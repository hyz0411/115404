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F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31"/>
    <p:restoredTop sz="94654"/>
  </p:normalViewPr>
  <p:slideViewPr>
    <p:cSldViewPr snapToGrid="0">
      <p:cViewPr varScale="1">
        <p:scale>
          <a:sx n="61" d="100"/>
          <a:sy n="61" d="100"/>
        </p:scale>
        <p:origin x="248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7:36:3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9:57:11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9:57:1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232622-C919-11A1-914C-1472F5C9D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2DB44CA-93E8-08E7-7C4B-7BEBB0B7E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0AE88-30EA-7056-4D48-8EC55C2B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A45E65-1D6B-DCA7-FFBC-CF5F08FF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72602-E30A-CCF0-5BD7-08304B12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733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D5AC07-5CC5-8836-AF05-81025734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A64F65-C995-179C-804B-830C6EF9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FDBDD9-09B1-073D-5DD1-2EF39A1B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4DE454-6400-267C-C808-CCBB6E9E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B86647-9D01-72E1-66BE-F890DCB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032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EA6DDE-227B-27B1-89BA-E2A6C5DD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0C6C00-915A-FEA3-A7D6-5FE2A3315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5DAD7B-5704-ECCF-FCF1-DE1A3AD0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7B0E4A-56EC-EC05-4BC7-65025E0E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B804A5-B65A-EB36-9731-40AF088F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5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572751-9C2A-A0FB-859A-9868B8A2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A2B32D-BAA9-41D0-52D2-17C264A21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005AB-49C9-7031-06E8-A198A6A09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AD6821-9601-F561-E0A2-53BCA938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DF6664-E108-63CB-455C-DDDDE378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2FA6FB-8CB4-2C1A-0783-0818C906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653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FF5B91-E397-1D02-4A7A-E4843CF6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94F7E7-43BF-0DD9-462C-963A9F01F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C6508A-F71A-5279-EA60-E8A24B881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122A44-9498-2996-88EF-1AF4B5410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7A531F7-434D-E2ED-0B84-CDF71CD0D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53D376-2B67-33F1-F6F0-BC698CB2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C1FBFC-5968-59E9-501C-9245550E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CB6A21-C495-4E39-651B-4365E352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595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956A3-A147-EE63-09A4-13C46F55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D2FCC5-17CE-BB13-C6E4-FA0DE6F0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F0B762D-8DFE-564C-AA15-E67A90F5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0140FE-CEA2-A453-93A7-CD506301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2573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40FFFC-9753-91E1-D41C-E6522D55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9C035AF-8920-C9CA-4632-CE8346C9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1205-551E-3718-7E78-C12F82E1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692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AA085-DA37-6172-D559-76E4113D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16FDC4-DCFA-9C66-91BF-BC5A896A3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E8F2C3-98F3-62CE-01DC-E24755D15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475B69-16AD-A27E-B676-106ADFE6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80E421-FE3E-A2DA-23B6-C0F1EB41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D3645A-548A-EFB7-3949-E5B2C17C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3436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381D98-E70D-3FDB-6328-6EEB05BF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3484FA-4F18-9DF1-6363-C857FBCBC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CC8E78-F067-C7FA-57EC-681D80B85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D61B2B-91AE-DAB3-90B7-7A1C7D92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95A48C-3483-3A44-DFAC-CCD19719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31C5EB-13D9-0BAF-0940-5713E71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806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28F9D-107A-6056-E1D8-16E92D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2846CD-32C5-ADB8-83F0-610EF3D49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22207E-C0C3-492D-11D2-2425C692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4B2B35-CA45-7C3E-3C6D-A45CCCDA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D50323-7FDE-5DEA-EA22-DCD3486C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1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A63504-3862-8F3A-868D-21863F098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CDF49E-6697-8B17-D16A-6E4765063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FF5817-51A9-5F0D-0F62-213EFFAB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D25FAC-2402-55E0-C474-AC6812BB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31E312-A1D8-39B6-1EC6-FEFA5820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397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AB45EF-20BB-DF9A-0FCE-FB65F9E9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18144E-62F7-E17C-BB62-DE34B4658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A69CDF-6882-DEA1-0986-56FCA571F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FDBDF-9659-BC44-8B35-818AA0CE033C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D08E32-0132-77A9-0FD0-2F6D615CA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DCED08-121D-A632-7978-2497E3BEC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A0E96-41E4-7B41-976C-473BBD3B0B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397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customXml" Target="../ink/ink1.xml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10" Type="http://schemas.microsoft.com/office/2007/relationships/hdphoto" Target="../media/hdphoto5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10.png"/><Relationship Id="rId4" Type="http://schemas.microsoft.com/office/2007/relationships/hdphoto" Target="../media/hdphoto6.wdp"/><Relationship Id="rId9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颗粒背景图片下载_免费高清颗粒背景设计素材_第2页_图精灵">
            <a:extLst>
              <a:ext uri="{FF2B5EF4-FFF2-40B4-BE49-F238E27FC236}">
                <a16:creationId xmlns:a16="http://schemas.microsoft.com/office/drawing/2014/main" id="{6039415F-72AB-272E-3F8F-BE2F64EAF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986" y="6945"/>
            <a:ext cx="12230986" cy="684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EBD691C-3A32-A8B7-A55F-ED333B8FA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63256" y="2205226"/>
            <a:ext cx="13900295" cy="3063395"/>
          </a:xfrm>
        </p:spPr>
        <p:txBody>
          <a:bodyPr>
            <a:noAutofit/>
          </a:bodyPr>
          <a:lstStyle/>
          <a:p>
            <a:r>
              <a:rPr kumimoji="1" lang="zh-TW" altLang="en-US" sz="7000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健金術</a:t>
            </a:r>
            <a:r>
              <a:rPr kumimoji="1" lang="zh-TW" altLang="en-US" sz="7000" b="1" dirty="0"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</a:t>
            </a:r>
            <a:r>
              <a:rPr kumimoji="1" lang="en-US" altLang="zh-TW" sz="7000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Alchemy Workout </a:t>
            </a:r>
            <a:endParaRPr kumimoji="1" lang="zh-TW" altLang="en-US" sz="7000" b="1" dirty="0">
              <a:latin typeface="Hiragino Sans GB W6" panose="020B0300000000000000" pitchFamily="34" charset="-128"/>
              <a:ea typeface="Hiragino Sans GB W6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98238A-BDF1-1334-CB16-0296F8787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813" y="5324512"/>
            <a:ext cx="11660371" cy="1841832"/>
          </a:xfrm>
        </p:spPr>
        <p:txBody>
          <a:bodyPr/>
          <a:lstStyle/>
          <a:p>
            <a:r>
              <a:rPr kumimoji="1" lang="zh-TW" altLang="en-US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Hiragino Sans GB W3" panose="020B0300000000000000" pitchFamily="34" charset="-128"/>
                <a:cs typeface="Times New Roman" panose="02020603050405020304" pitchFamily="18" charset="0"/>
              </a:rPr>
              <a:t>將無形汗水，淬鍊為顯性數據黃金</a:t>
            </a:r>
            <a:endParaRPr kumimoji="1" lang="en-US" altLang="zh-TW" sz="36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ea typeface="Hiragino Sans GB W3" panose="020B0300000000000000" pitchFamily="34" charset="-128"/>
              <a:cs typeface="Times New Roman" panose="02020603050405020304" pitchFamily="18" charset="0"/>
            </a:endParaRPr>
          </a:p>
          <a:p>
            <a:endParaRPr kumimoji="1" lang="en-US" altLang="zh-TW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kumimoji="1"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指導老師：唐日新   組長：張浩洋   組員：姚永浚、劉凱閎、吳昶毅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DA17FB-9E95-D331-A99F-419F5C97B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718" y="6944"/>
            <a:ext cx="4396564" cy="439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4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颗粒背景图片下载_免费高清颗粒背景设计素材_第2页_图精灵">
            <a:extLst>
              <a:ext uri="{FF2B5EF4-FFF2-40B4-BE49-F238E27FC236}">
                <a16:creationId xmlns:a16="http://schemas.microsoft.com/office/drawing/2014/main" id="{F36427CE-1737-EF95-6C1E-E0E6D5203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986" y="18255"/>
            <a:ext cx="12230986" cy="682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28249BE-FA16-B26D-2DBF-B21CEC33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16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簡報目錄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B890DB-E85C-FDB8-DC08-7AEE4B76D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139" y="1572404"/>
            <a:ext cx="4882116" cy="1066431"/>
          </a:xfrm>
        </p:spPr>
        <p:txBody>
          <a:bodyPr/>
          <a:lstStyle/>
          <a:p>
            <a:pPr marL="0" indent="0">
              <a:buNone/>
            </a:pPr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背景與研究動機</a:t>
            </a:r>
            <a:endParaRPr kumimoji="1"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現狀痛點與行為斷裂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F15856-60C1-0A43-C4B0-8DBFEA094F83}"/>
              </a:ext>
            </a:extLst>
          </p:cNvPr>
          <p:cNvSpPr txBox="1"/>
          <p:nvPr/>
        </p:nvSpPr>
        <p:spPr>
          <a:xfrm>
            <a:off x="1518684" y="3113892"/>
            <a:ext cx="441428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遊戲化八角框架應用</a:t>
            </a:r>
            <a:endParaRPr kumimoji="1"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八大核心動力拆解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3E50EB1-A753-BDB0-0A70-40A97B65EBFC}"/>
              </a:ext>
            </a:extLst>
          </p:cNvPr>
          <p:cNvSpPr txBox="1"/>
          <p:nvPr/>
        </p:nvSpPr>
        <p:spPr>
          <a:xfrm>
            <a:off x="7258048" y="1667037"/>
            <a:ext cx="441428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競品分析與優劣維度</a:t>
            </a:r>
            <a:endParaRPr kumimoji="1"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傳統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健金術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BD6628-965A-D123-5096-DE324F8B08FE}"/>
              </a:ext>
            </a:extLst>
          </p:cNvPr>
          <p:cNvSpPr txBox="1"/>
          <p:nvPr/>
        </p:nvSpPr>
        <p:spPr>
          <a:xfrm>
            <a:off x="1585139" y="4952159"/>
            <a:ext cx="441428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核心系統與技術架構</a:t>
            </a:r>
            <a:endParaRPr kumimoji="1"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數據建模與技術路徑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317A940-F013-1C7C-6467-E052DED148F8}"/>
              </a:ext>
            </a:extLst>
          </p:cNvPr>
          <p:cNvSpPr txBox="1"/>
          <p:nvPr/>
        </p:nvSpPr>
        <p:spPr>
          <a:xfrm>
            <a:off x="7258048" y="5075600"/>
            <a:ext cx="441428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結語與戰略附錄</a:t>
            </a:r>
            <a:endParaRPr kumimoji="1"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預想問題與系統防禦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7C3840-73D0-2BB6-F5AA-14952D887C59}"/>
              </a:ext>
            </a:extLst>
          </p:cNvPr>
          <p:cNvSpPr txBox="1"/>
          <p:nvPr/>
        </p:nvSpPr>
        <p:spPr>
          <a:xfrm>
            <a:off x="7258048" y="3147988"/>
            <a:ext cx="441428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預期成效與未來規劃</a:t>
            </a:r>
            <a:endParaRPr kumimoji="1"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kumimoji="1" lang="zh-TW" altLang="en-US" sz="23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階段目標與營運展望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FC86CC6-2E75-FF3A-E8CA-D5E265228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6" b="95134" l="9797" r="89865">
                        <a14:foregroundMark x1="40878" y1="14964" x2="40878" y2="14964"/>
                        <a14:foregroundMark x1="72297" y1="12044" x2="72297" y2="12044"/>
                        <a14:foregroundMark x1="78041" y1="47567" x2="78041" y2="47567"/>
                        <a14:foregroundMark x1="41892" y1="88200" x2="41892" y2="88200"/>
                        <a14:foregroundMark x1="82432" y1="84185" x2="82432" y2="84185"/>
                        <a14:foregroundMark x1="38514" y1="95134" x2="38514" y2="951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8232" y="1045566"/>
            <a:ext cx="1722618" cy="478375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77E6EFC-1A28-2F6B-E0C5-FB79319209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04" b="94051" l="9489" r="89416">
                        <a14:foregroundMark x1="32482" y1="44684" x2="32482" y2="44684"/>
                        <a14:foregroundMark x1="35766" y1="16835" x2="35766" y2="16835"/>
                        <a14:foregroundMark x1="72628" y1="17848" x2="72628" y2="17848"/>
                        <a14:foregroundMark x1="19343" y1="4304" x2="19343" y2="4304"/>
                        <a14:foregroundMark x1="33942" y1="82278" x2="33942" y2="82278"/>
                        <a14:foregroundMark x1="64234" y1="80253" x2="64234" y2="80253"/>
                        <a14:foregroundMark x1="52555" y1="94051" x2="52555" y2="940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9192" y="1343818"/>
            <a:ext cx="1659177" cy="478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8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颗粒背景图片下载_免费高清颗粒背景设计素材_第2页_图精灵">
            <a:extLst>
              <a:ext uri="{FF2B5EF4-FFF2-40B4-BE49-F238E27FC236}">
                <a16:creationId xmlns:a16="http://schemas.microsoft.com/office/drawing/2014/main" id="{AE175687-964B-1BD4-E5A3-5A8C9BAD6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0"/>
            <a:ext cx="6125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DA2B6DD-1A7E-E815-8B9B-F94362F5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750" y="0"/>
            <a:ext cx="6051697" cy="1460500"/>
          </a:xfrm>
        </p:spPr>
        <p:txBody>
          <a:bodyPr>
            <a:noAutofit/>
          </a:bodyPr>
          <a:lstStyle/>
          <a:p>
            <a:r>
              <a:rPr kumimoji="1" lang="en-US" altLang="zh-TW" sz="5000" b="1" dirty="0">
                <a:solidFill>
                  <a:schemeClr val="accent3">
                    <a:lumMod val="75000"/>
                  </a:schemeClr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【</a:t>
            </a:r>
            <a:r>
              <a:rPr kumimoji="1" lang="zh-TW" altLang="en-US" sz="5000" b="1" dirty="0">
                <a:solidFill>
                  <a:schemeClr val="accent3">
                    <a:lumMod val="75000"/>
                  </a:schemeClr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現狀</a:t>
            </a:r>
            <a:r>
              <a:rPr kumimoji="1" lang="en-US" altLang="zh-TW" sz="5000" b="1" dirty="0">
                <a:solidFill>
                  <a:schemeClr val="accent3">
                    <a:lumMod val="75000"/>
                  </a:schemeClr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】</a:t>
            </a:r>
            <a:r>
              <a:rPr kumimoji="1" lang="zh-TW" altLang="en-US" sz="5000" b="1" dirty="0">
                <a:solidFill>
                  <a:schemeClr val="accent3">
                    <a:lumMod val="75000"/>
                  </a:schemeClr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回饋沙漠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CCDF9B-CAF1-4F6A-F11B-86A2823D1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0" y="1048417"/>
            <a:ext cx="5286154" cy="1719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sz="15000" b="1" dirty="0">
                <a:solidFill>
                  <a:schemeClr val="accent3">
                    <a:lumMod val="75000"/>
                  </a:schemeClr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80%</a:t>
            </a:r>
            <a:endParaRPr kumimoji="1" lang="zh-TW" altLang="en-US" sz="15000" b="1" dirty="0">
              <a:solidFill>
                <a:schemeClr val="accent3">
                  <a:lumMod val="75000"/>
                </a:schemeClr>
              </a:solidFill>
              <a:latin typeface="Hiragino Sans GB W6" panose="020B0300000000000000" pitchFamily="34" charset="-128"/>
              <a:ea typeface="Hiragino Sans GB W6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77BB62-1523-7368-A1A8-E7AFF663D25E}"/>
              </a:ext>
            </a:extLst>
          </p:cNvPr>
          <p:cNvSpPr txBox="1"/>
          <p:nvPr/>
        </p:nvSpPr>
        <p:spPr>
          <a:xfrm>
            <a:off x="29044" y="2812443"/>
            <a:ext cx="61444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300" b="1" dirty="0"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高流失率（新進者</a:t>
            </a:r>
            <a:r>
              <a:rPr kumimoji="1" lang="en-US" altLang="zh-TW" sz="3300" b="1" dirty="0"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5</a:t>
            </a:r>
            <a:r>
              <a:rPr kumimoji="1" lang="zh-TW" altLang="en-US" sz="3300" b="1" dirty="0"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個月內放棄）</a:t>
            </a:r>
            <a:endParaRPr kumimoji="1" lang="en-US" altLang="zh-TW" sz="3300" b="1" dirty="0"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r>
              <a:rPr kumimoji="1" lang="zh-TW" altLang="en-US" sz="23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rPr>
              <a:t>生理回饋延遲。肌肉變化以「月」為單位，</a:t>
            </a:r>
            <a:endParaRPr kumimoji="1" lang="en-US" altLang="zh-TW" sz="2300" b="1" dirty="0">
              <a:latin typeface="Hiragino Sans GB W3" panose="020B0300000000000000" pitchFamily="34" charset="-128"/>
              <a:ea typeface="Hiragino Sans GB W3" panose="020B0300000000000000" pitchFamily="34" charset="-128"/>
              <a:cs typeface="Times New Roman" panose="02020603050405020304" pitchFamily="18" charset="0"/>
            </a:endParaRPr>
          </a:p>
          <a:p>
            <a:r>
              <a:rPr kumimoji="1" lang="zh-TW" altLang="en-US" sz="23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rPr>
              <a:t>但大腦依賴「即時性」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9078B28-F42A-696F-7257-E2BFBC6A583D}"/>
                  </a:ext>
                </a:extLst>
              </p14:cNvPr>
              <p14:cNvContentPartPr/>
              <p14:nvPr/>
            </p14:nvContentPartPr>
            <p14:xfrm>
              <a:off x="454261" y="-1433821"/>
              <a:ext cx="360" cy="3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9078B28-F42A-696F-7257-E2BFBC6A58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141" y="-143994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D07E7759-5816-7533-DEF5-2F711666157C}"/>
              </a:ext>
            </a:extLst>
          </p:cNvPr>
          <p:cNvSpPr txBox="1"/>
          <p:nvPr/>
        </p:nvSpPr>
        <p:spPr>
          <a:xfrm>
            <a:off x="6300383" y="289534"/>
            <a:ext cx="64752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" b="1" dirty="0">
                <a:solidFill>
                  <a:srgbClr val="FFC400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【</a:t>
            </a:r>
            <a:r>
              <a:rPr kumimoji="1" lang="zh-TW" altLang="en-US" sz="5000" b="1" dirty="0">
                <a:solidFill>
                  <a:srgbClr val="FFC400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轉化</a:t>
            </a:r>
            <a:r>
              <a:rPr kumimoji="1" lang="en-US" altLang="zh-TW" sz="5000" b="1" dirty="0">
                <a:solidFill>
                  <a:srgbClr val="FFC400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】</a:t>
            </a:r>
            <a:r>
              <a:rPr kumimoji="1" lang="zh-TW" altLang="en-US" sz="5000" b="1" dirty="0">
                <a:solidFill>
                  <a:srgbClr val="FFC400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 點石成金</a:t>
            </a:r>
            <a:endParaRPr lang="zh-TW" altLang="en-US" sz="5000" b="1" dirty="0">
              <a:solidFill>
                <a:srgbClr val="FFC400"/>
              </a:solidFill>
              <a:latin typeface="Hiragino Sans GB W6" panose="020B0300000000000000" pitchFamily="34" charset="-128"/>
              <a:ea typeface="Hiragino Sans GB W6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1FDFB62-B6B8-7BD1-6D5E-E84A98A88380}"/>
              </a:ext>
            </a:extLst>
          </p:cNvPr>
          <p:cNvSpPr txBox="1"/>
          <p:nvPr/>
        </p:nvSpPr>
        <p:spPr>
          <a:xfrm>
            <a:off x="6390759" y="1342892"/>
            <a:ext cx="63068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400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建立「現實生活的能力面板」</a:t>
            </a:r>
            <a:endParaRPr kumimoji="1" lang="en-US" altLang="zh-TW" sz="3400" b="1" dirty="0">
              <a:latin typeface="Hiragino Sans GB W6" panose="020B0300000000000000" pitchFamily="34" charset="-128"/>
              <a:ea typeface="Hiragino Sans GB W6" panose="020B0300000000000000" pitchFamily="34" charset="-128"/>
              <a:cs typeface="Times New Roman" panose="02020603050405020304" pitchFamily="18" charset="0"/>
            </a:endParaRPr>
          </a:p>
          <a:p>
            <a:r>
              <a:rPr kumimoji="1" lang="zh-TW" altLang="en-US" sz="3400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導入</a:t>
            </a:r>
            <a:r>
              <a:rPr kumimoji="1" lang="en-US" altLang="zh-TW" sz="3400" b="1" dirty="0" err="1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Octalysis</a:t>
            </a:r>
            <a:r>
              <a:rPr kumimoji="1" lang="zh-TW" altLang="en-US" sz="3400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八角框架。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85040B2-1F75-5850-98FA-34DD451028F9}"/>
              </a:ext>
            </a:extLst>
          </p:cNvPr>
          <p:cNvSpPr txBox="1"/>
          <p:nvPr/>
        </p:nvSpPr>
        <p:spPr>
          <a:xfrm>
            <a:off x="6390759" y="2530772"/>
            <a:ext cx="573969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5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將隱形的努力（汗水），淬鍊為顯性的數據資產。</a:t>
            </a:r>
            <a:endParaRPr kumimoji="1" lang="en-US" altLang="zh-TW" sz="25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5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將長期目標轉為短期心理酬賞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C56C58B-B76B-34C7-BFC2-02914F662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6133" y1="44313" x2="46133" y2="44313"/>
                        <a14:foregroundMark x1="46467" y1="44313" x2="48800" y2="48000"/>
                        <a14:foregroundMark x1="36867" y1="27500" x2="47800" y2="39063"/>
                        <a14:foregroundMark x1="47800" y1="39063" x2="70933" y2="50187"/>
                        <a14:backgroundMark x1="8467" y1="16125" x2="25000" y2="16125"/>
                        <a14:backgroundMark x1="18000" y1="13188" x2="64067" y2="23000"/>
                        <a14:backgroundMark x1="64067" y1="23000" x2="71733" y2="41188"/>
                        <a14:backgroundMark x1="71733" y1="41188" x2="73267" y2="41750"/>
                        <a14:backgroundMark x1="82533" y1="61563" x2="52400" y2="699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68352" y="3196999"/>
            <a:ext cx="5578010" cy="5300905"/>
          </a:xfrm>
          <a:prstGeom prst="rect">
            <a:avLst/>
          </a:prstGeom>
        </p:spPr>
      </p:pic>
      <p:pic>
        <p:nvPicPr>
          <p:cNvPr id="13" name="Picture 6" descr="Declining Bar Chart Arrow Stock Illustrations – 388 Declining Bar Chart  Arrow Stock Illustrations, Vectors &amp; Clipart - Dreamstime">
            <a:extLst>
              <a:ext uri="{FF2B5EF4-FFF2-40B4-BE49-F238E27FC236}">
                <a16:creationId xmlns:a16="http://schemas.microsoft.com/office/drawing/2014/main" id="{DFD915CB-48CD-668A-6FEE-13D010958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333" y1="52889" x2="20444" y2="75111"/>
                        <a14:foregroundMark x1="48000" y1="60444" x2="50222" y2="69333"/>
                        <a14:foregroundMark x1="78667" y1="76000" x2="78667" y2="76000"/>
                        <a14:foregroundMark x1="44444" y1="28444" x2="44444" y2="2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056" y="4192987"/>
            <a:ext cx="2746891" cy="274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DC64D13-6F41-B342-D433-219FBA8380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24790" y1="76103" x2="23319" y2="78676"/>
                        <a14:foregroundMark x1="24790" y1="77206" x2="21849" y2="83824"/>
                        <a14:foregroundMark x1="19328" y1="85294" x2="17437" y2="88971"/>
                        <a14:foregroundMark x1="46639" y1="88603" x2="51891" y2="893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90759" y="3610480"/>
            <a:ext cx="5522418" cy="31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颗粒背景图片下载_免费高清颗粒背景设计素材_第2页_图精灵">
            <a:extLst>
              <a:ext uri="{FF2B5EF4-FFF2-40B4-BE49-F238E27FC236}">
                <a16:creationId xmlns:a16="http://schemas.microsoft.com/office/drawing/2014/main" id="{01E6E2F9-973D-F4A1-878C-0548813BB5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0B7DAB0-64C2-7555-E03F-5FD7EFD4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37" y="175725"/>
            <a:ext cx="10515600" cy="1325563"/>
          </a:xfrm>
        </p:spPr>
        <p:txBody>
          <a:bodyPr/>
          <a:lstStyle/>
          <a:p>
            <a:r>
              <a:rPr kumimoji="1" lang="zh-TW" altLang="en-US" b="1" dirty="0"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行為斷裂：健身的挑戰與我們的解方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D28F46-9293-F992-E246-047720A7672B}"/>
              </a:ext>
            </a:extLst>
          </p:cNvPr>
          <p:cNvSpPr txBox="1"/>
          <p:nvPr/>
        </p:nvSpPr>
        <p:spPr>
          <a:xfrm>
            <a:off x="6820010" y="1760088"/>
            <a:ext cx="445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b="1" dirty="0">
                <a:solidFill>
                  <a:srgbClr val="FFC400"/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【</a:t>
            </a:r>
            <a:r>
              <a:rPr kumimoji="1" lang="zh-TW" altLang="en-US" sz="4000" b="1" dirty="0">
                <a:solidFill>
                  <a:srgbClr val="FFC400"/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解方</a:t>
            </a:r>
            <a:r>
              <a:rPr kumimoji="1" lang="en-US" altLang="zh-TW" sz="4000" b="1" dirty="0">
                <a:solidFill>
                  <a:srgbClr val="FFC400"/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】</a:t>
            </a:r>
            <a:r>
              <a:rPr kumimoji="1" lang="zh-TW" altLang="en-US" sz="4000" b="1" dirty="0">
                <a:solidFill>
                  <a:srgbClr val="FFC400"/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  <a:cs typeface="Times New Roman" panose="02020603050405020304" pitchFamily="18" charset="0"/>
              </a:rPr>
              <a:t> 點石成金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136304-FD9B-F680-6016-E32979B28B00}"/>
              </a:ext>
            </a:extLst>
          </p:cNvPr>
          <p:cNvSpPr txBox="1"/>
          <p:nvPr/>
        </p:nvSpPr>
        <p:spPr>
          <a:xfrm>
            <a:off x="251528" y="1760088"/>
            <a:ext cx="4945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4000" b="1" dirty="0">
                <a:solidFill>
                  <a:schemeClr val="bg2">
                    <a:lumMod val="25000"/>
                  </a:schemeClr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【</a:t>
            </a:r>
            <a:r>
              <a:rPr kumimoji="1" lang="zh-TW" altLang="en-US" sz="4000" b="1" dirty="0">
                <a:solidFill>
                  <a:schemeClr val="bg2">
                    <a:lumMod val="25000"/>
                  </a:schemeClr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痛點</a:t>
            </a:r>
            <a:r>
              <a:rPr kumimoji="1" lang="en-US" altLang="zh-TW" sz="4000" b="1" dirty="0">
                <a:solidFill>
                  <a:schemeClr val="bg2">
                    <a:lumMod val="25000"/>
                  </a:schemeClr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】</a:t>
            </a:r>
            <a:r>
              <a:rPr kumimoji="1" lang="zh-TW" altLang="en-US" sz="4000" b="1" dirty="0">
                <a:solidFill>
                  <a:schemeClr val="bg2">
                    <a:lumMod val="25000"/>
                  </a:schemeClr>
                </a:solidFill>
                <a:highlight>
                  <a:srgbClr val="DCDCDC"/>
                </a:highlight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回饋的沙漠</a:t>
            </a:r>
            <a:endParaRPr lang="zh-TW" altLang="en-US" sz="4000" b="1" dirty="0">
              <a:solidFill>
                <a:schemeClr val="bg2">
                  <a:lumMod val="25000"/>
                </a:schemeClr>
              </a:solidFill>
              <a:highlight>
                <a:srgbClr val="DCDCDC"/>
              </a:highlight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EA79DA-B102-0AE3-4C35-4DA3F03455A3}"/>
              </a:ext>
            </a:extLst>
          </p:cNvPr>
          <p:cNvSpPr txBox="1"/>
          <p:nvPr/>
        </p:nvSpPr>
        <p:spPr>
          <a:xfrm>
            <a:off x="251637" y="5200213"/>
            <a:ext cx="559272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kumimoji="1" lang="zh-TW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新進者</a:t>
            </a:r>
            <a:r>
              <a:rPr kumimoji="1" lang="en-US" altLang="zh-TW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TW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個月內放棄健身</a:t>
            </a:r>
            <a:endParaRPr kumimoji="1" lang="en-US" altLang="zh-TW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生理變化緩慢，大腦渴望即時獎勵</a:t>
            </a:r>
            <a:endParaRPr kumimoji="1" lang="en-US" altLang="zh-TW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現有</a:t>
            </a:r>
            <a:r>
              <a:rPr kumimoji="1" lang="en-US" altLang="zh-TW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1" lang="zh-TW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缺乏即時激勵，難以持續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297BC9D-7468-D7FA-4A8D-9C8CEE0237F9}"/>
              </a:ext>
            </a:extLst>
          </p:cNvPr>
          <p:cNvSpPr txBox="1"/>
          <p:nvPr/>
        </p:nvSpPr>
        <p:spPr>
          <a:xfrm>
            <a:off x="5975234" y="5200213"/>
            <a:ext cx="621676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600" b="1" dirty="0"/>
              <a:t>導入遊戲化機制，轉化長期為短期酬賞</a:t>
            </a:r>
            <a:endParaRPr kumimoji="1" lang="en-US" altLang="zh-TW" sz="2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600" b="1" dirty="0"/>
              <a:t>建立 「即時回饋系統」，填補行為斷裂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29054C4D-C08B-3EDB-B8E4-2DAAD5EB1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0795" y1="40909" x2="69318" y2="40909"/>
                        <a14:foregroundMark x1="75568" y1="28636" x2="79545" y2="26818"/>
                        <a14:foregroundMark x1="50568" y1="26818" x2="50568" y2="26818"/>
                        <a14:foregroundMark x1="50568" y1="26818" x2="50568" y2="26818"/>
                        <a14:foregroundMark x1="60795" y1="64545" x2="65341" y2="65909"/>
                        <a14:foregroundMark x1="50568" y1="73182" x2="50852" y2="72273"/>
                        <a14:foregroundMark x1="37784" y1="35455" x2="39489" y2="35909"/>
                        <a14:foregroundMark x1="39489" y1="35455" x2="39489" y2="35455"/>
                        <a14:foregroundMark x1="38068" y1="34545" x2="38636" y2="35455"/>
                        <a14:foregroundMark x1="45739" y1="39091" x2="45739" y2="39091"/>
                        <a14:foregroundMark x1="46307" y1="38636" x2="46307" y2="38636"/>
                        <a14:foregroundMark x1="46591" y1="38636" x2="46591" y2="38636"/>
                        <a14:foregroundMark x1="46591" y1="39091" x2="46591" y2="39091"/>
                        <a14:foregroundMark x1="46591" y1="39091" x2="46591" y2="39091"/>
                        <a14:foregroundMark x1="46591" y1="39091" x2="46591" y2="39091"/>
                        <a14:foregroundMark x1="46875" y1="39091" x2="46875" y2="39091"/>
                        <a14:foregroundMark x1="46875" y1="39091" x2="46875" y2="39091"/>
                        <a14:foregroundMark x1="46875" y1="39091" x2="46875" y2="39091"/>
                        <a14:foregroundMark x1="46875" y1="39091" x2="46875" y2="39091"/>
                        <a14:foregroundMark x1="46875" y1="39091" x2="46875" y2="39091"/>
                        <a14:foregroundMark x1="46591" y1="38182" x2="46591" y2="38182"/>
                        <a14:foregroundMark x1="46875" y1="38182" x2="46875" y2="38182"/>
                        <a14:foregroundMark x1="47443" y1="38636" x2="47443" y2="38636"/>
                        <a14:foregroundMark x1="46591" y1="39091" x2="46591" y2="39091"/>
                        <a14:foregroundMark x1="46023" y1="39545" x2="46023" y2="39545"/>
                        <a14:foregroundMark x1="42045" y1="26364" x2="42045" y2="26364"/>
                        <a14:foregroundMark x1="42330" y1="26364" x2="42330" y2="26364"/>
                        <a14:foregroundMark x1="46023" y1="38182" x2="46591" y2="38636"/>
                        <a14:foregroundMark x1="46307" y1="38636" x2="46591" y2="37727"/>
                        <a14:foregroundMark x1="47159" y1="39545" x2="46591" y2="38636"/>
                        <a14:foregroundMark x1="55114" y1="61364" x2="55682" y2="62273"/>
                        <a14:foregroundMark x1="57102" y1="76818" x2="57670" y2="78182"/>
                        <a14:backgroundMark x1="28409" y1="32273" x2="32333" y2="33800"/>
                        <a14:backgroundMark x1="44488" y1="26364" x2="46535" y2="37275"/>
                        <a14:backgroundMark x1="44403" y1="25909" x2="44488" y2="26364"/>
                        <a14:backgroundMark x1="44318" y1="25455" x2="44403" y2="25909"/>
                        <a14:backgroundMark x1="49716" y1="74091" x2="49716" y2="74091"/>
                        <a14:backgroundMark x1="48011" y1="74091" x2="48011" y2="74091"/>
                        <a14:backgroundMark x1="46023" y1="78182" x2="49148" y2="75000"/>
                        <a14:backgroundMark x1="47443" y1="29091" x2="51420" y2="21818"/>
                        <a14:backgroundMark x1="45392" y1="32886" x2="47886" y2="31869"/>
                        <a14:backgroundMark x1="39823" y1="35157" x2="45097" y2="33006"/>
                        <a14:backgroundMark x1="33523" y1="37727" x2="36503" y2="365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872" y="2362198"/>
            <a:ext cx="4990256" cy="311891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5362008D-E25B-B6AB-27E8-C9D99B47D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56" b="89837" l="9906" r="91038">
                        <a14:foregroundMark x1="89387" y1="21138" x2="91038" y2="14228"/>
                        <a14:foregroundMark x1="91038" y1="14228" x2="91038" y2="142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8489" y="2362198"/>
            <a:ext cx="4990256" cy="28952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A9D43658-6671-43C2-D5C0-76664ADFFFEC}"/>
                  </a:ext>
                </a:extLst>
              </p14:cNvPr>
              <p14:cNvContentPartPr/>
              <p14:nvPr/>
            </p14:nvContentPartPr>
            <p14:xfrm>
              <a:off x="6484981" y="-2462316"/>
              <a:ext cx="360" cy="360"/>
            </p14:xfrm>
          </p:contentPart>
        </mc:Choice>
        <mc:Fallback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A9D43658-6671-43C2-D5C0-76664ADFFF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78861" y="-246843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B0E4C6EC-23C4-3FD5-AA93-A0B51625638E}"/>
                  </a:ext>
                </a:extLst>
              </p14:cNvPr>
              <p14:cNvContentPartPr/>
              <p14:nvPr/>
            </p14:nvContentPartPr>
            <p14:xfrm>
              <a:off x="6992221" y="-2535396"/>
              <a:ext cx="360" cy="360"/>
            </p14:xfrm>
          </p:contentPart>
        </mc:Choice>
        <mc:Fallback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B0E4C6EC-23C4-3FD5-AA93-A0B5162563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86101" y="-2541516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83761C92-9107-2307-CC22-BA5E28ADE4C0}"/>
              </a:ext>
            </a:extLst>
          </p:cNvPr>
          <p:cNvCxnSpPr>
            <a:cxnSpLocks/>
          </p:cNvCxnSpPr>
          <p:nvPr/>
        </p:nvCxnSpPr>
        <p:spPr>
          <a:xfrm flipV="1">
            <a:off x="5878033" y="1866413"/>
            <a:ext cx="29863" cy="4597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55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265</Words>
  <Application>Microsoft Macintosh PowerPoint</Application>
  <PresentationFormat>寬螢幕</PresentationFormat>
  <Paragraphs>35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Hiragino Sans GB W3</vt:lpstr>
      <vt:lpstr>Hiragino Sans GB W6</vt:lpstr>
      <vt:lpstr>Arial</vt:lpstr>
      <vt:lpstr>Calibri</vt:lpstr>
      <vt:lpstr>Calibri Light</vt:lpstr>
      <vt:lpstr>Times New Roman</vt:lpstr>
      <vt:lpstr>Office 佈景主題</vt:lpstr>
      <vt:lpstr>健金術 Alchemy Workout </vt:lpstr>
      <vt:lpstr>簡報目錄</vt:lpstr>
      <vt:lpstr>【現狀】 回饋沙漠</vt:lpstr>
      <vt:lpstr>行為斷裂：健身的挑戰與我們的解方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11246035_吳昶毅</dc:creator>
  <cp:lastModifiedBy>11246035_吳昶毅</cp:lastModifiedBy>
  <cp:revision>3</cp:revision>
  <dcterms:created xsi:type="dcterms:W3CDTF">2026-04-09T05:52:37Z</dcterms:created>
  <dcterms:modified xsi:type="dcterms:W3CDTF">2026-04-09T20:07:57Z</dcterms:modified>
</cp:coreProperties>
</file>