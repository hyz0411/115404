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 varScale="1">
        <p:scale>
          <a:sx n="105" d="100"/>
          <a:sy n="10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8AC5B-7FA9-C5FF-FDE9-71A0B5892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387770"/>
            <a:ext cx="8637073" cy="2541431"/>
          </a:xfrm>
        </p:spPr>
        <p:txBody>
          <a:bodyPr/>
          <a:lstStyle/>
          <a:p>
            <a:r>
              <a:rPr kumimoji="1" lang="zh-TW" altLang="en-US" dirty="0"/>
              <a:t>實用性情景分析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454C10-1105-CA66-101B-5EBA7EA58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928800"/>
            <a:ext cx="8637072" cy="977621"/>
          </a:xfrm>
        </p:spPr>
        <p:txBody>
          <a:bodyPr/>
          <a:lstStyle/>
          <a:p>
            <a:pPr algn="r"/>
            <a:r>
              <a:rPr kumimoji="1" lang="zh-TW" altLang="en-US" dirty="0"/>
              <a:t>分析員劉凱閎</a:t>
            </a:r>
          </a:p>
        </p:txBody>
      </p:sp>
    </p:spTree>
    <p:extLst>
      <p:ext uri="{BB962C8B-B14F-4D97-AF65-F5344CB8AC3E}">
        <p14:creationId xmlns:p14="http://schemas.microsoft.com/office/powerpoint/2010/main" val="4012298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4AAC35-E3A3-F0B3-EF6B-478BAD2D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zh-TW" altLang="en-US" sz="3600" dirty="0"/>
              <a:t>研究背景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2D6AB5-334F-D4D7-D45B-F7F6530A7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健身 </a:t>
            </a:r>
            <a:r>
              <a:rPr kumimoji="1" lang="en" altLang="zh-TW" dirty="0"/>
              <a:t>App </a:t>
            </a:r>
            <a:r>
              <a:rPr kumimoji="1" lang="zh-TW" altLang="en-US" dirty="0"/>
              <a:t>越來越普及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但多數使用者容易中途放棄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問題不在於下載，而在於持續使用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因此本組想結合遊戲化與獎勵機制，提升運動動機</a:t>
            </a:r>
          </a:p>
        </p:txBody>
      </p:sp>
    </p:spTree>
    <p:extLst>
      <p:ext uri="{BB962C8B-B14F-4D97-AF65-F5344CB8AC3E}">
        <p14:creationId xmlns:p14="http://schemas.microsoft.com/office/powerpoint/2010/main" val="191604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262751-22F7-D026-AB91-F98D7B1B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kumimoji="1" lang="zh-TW" altLang="en-US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CD72D8-32DD-285B-64F3-A02F0D4CB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242085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傳統健身 </a:t>
            </a:r>
            <a:r>
              <a:rPr kumimoji="1" lang="en" altLang="zh-TW" dirty="0"/>
              <a:t>App </a:t>
            </a:r>
            <a:r>
              <a:rPr kumimoji="1" lang="zh-TW" altLang="en-US" dirty="0"/>
              <a:t>偏重紀錄與課表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缺乏互動感與持續誘因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使用者容易覺得無聊、失去動力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希望透過遊戲化設計，增加參與</a:t>
            </a:r>
            <a:r>
              <a:rPr kumimoji="1" lang="en-US" altLang="zh-TW" dirty="0"/>
              <a:t>.    </a:t>
            </a:r>
            <a:r>
              <a:rPr kumimoji="1" lang="zh-TW" altLang="en-US" dirty="0"/>
              <a:t>感與黏著度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401815-9C3D-43EE-B4E4-2504090CE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DC52205-72B7-41BE-99DF-6B24F25E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98BFFC9-C8B3-41FE-B9CC-C492B0794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圖片 4" descr="一張含有 人的臉孔, 動畫卡通, 卡通 的圖片&#10;&#10;AI 產生的內容可能不正確。">
            <a:extLst>
              <a:ext uri="{FF2B5EF4-FFF2-40B4-BE49-F238E27FC236}">
                <a16:creationId xmlns:a16="http://schemas.microsoft.com/office/drawing/2014/main" id="{3DE4FCF2-DDD7-782D-CB88-0BABEF63D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44" r="11701" b="-2"/>
          <a:stretch>
            <a:fillRect/>
          </a:stretch>
        </p:blipFill>
        <p:spPr>
          <a:xfrm>
            <a:off x="6277257" y="2174242"/>
            <a:ext cx="4613872" cy="31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9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C125603-405E-5EA4-47E6-5B555969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63" y="1240077"/>
            <a:ext cx="2917645" cy="4584527"/>
          </a:xfrm>
        </p:spPr>
        <p:txBody>
          <a:bodyPr>
            <a:normAutofit/>
          </a:bodyPr>
          <a:lstStyle/>
          <a:p>
            <a:r>
              <a:rPr kumimoji="1" lang="en-US" altLang="zh-TW" sz="3600" dirty="0">
                <a:solidFill>
                  <a:srgbClr val="FFFFFF"/>
                </a:solidFill>
                <a:latin typeface="+mn-ea"/>
                <a:ea typeface="+mn-ea"/>
              </a:rPr>
              <a:t>APP</a:t>
            </a:r>
            <a:r>
              <a:rPr kumimoji="1" lang="zh-TW" altLang="en-US" sz="3600" dirty="0">
                <a:solidFill>
                  <a:srgbClr val="FFFFFF"/>
                </a:solidFill>
                <a:latin typeface="+mn-ea"/>
                <a:ea typeface="+mn-ea"/>
              </a:rPr>
              <a:t>核心概念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537F32-9806-EA1E-863C-EB33E95AB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250" y="752397"/>
            <a:ext cx="6034827" cy="4916465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kumimoji="1" lang="zh-TW" altLang="en-US" sz="2400" dirty="0">
                <a:solidFill>
                  <a:srgbClr val="FF0000"/>
                </a:solidFill>
              </a:rPr>
              <a:t>遊戲化設計：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每日任務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闖關升級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成就徽章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排行榜</a:t>
            </a:r>
          </a:p>
          <a:p>
            <a:pPr marL="0" indent="0">
              <a:buNone/>
            </a:pPr>
            <a:r>
              <a:rPr kumimoji="1" lang="zh-TW" altLang="en-US" sz="2400" dirty="0">
                <a:solidFill>
                  <a:srgbClr val="FF0000"/>
                </a:solidFill>
              </a:rPr>
              <a:t>獎勵機制：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點數累積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獎勵兌換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連續打卡獎勵</a:t>
            </a:r>
          </a:p>
          <a:p>
            <a:pPr marL="0" indent="0">
              <a:buNone/>
            </a:pPr>
            <a:r>
              <a:rPr kumimoji="1" lang="zh-TW" altLang="en-US" dirty="0"/>
              <a:t> </a:t>
            </a:r>
            <a:r>
              <a:rPr kumimoji="1" lang="en-US" altLang="zh-TW" dirty="0"/>
              <a:t>• </a:t>
            </a:r>
            <a:r>
              <a:rPr kumimoji="1" lang="zh-TW" altLang="en-US" dirty="0"/>
              <a:t>特殊挑戰解鎖</a:t>
            </a:r>
          </a:p>
        </p:txBody>
      </p:sp>
      <p:pic>
        <p:nvPicPr>
          <p:cNvPr id="5" name="圖片 4" descr="一張含有 美工圖案, 黃色, 卡通 的圖片&#10;&#10;AI 產生的內容可能不正確。">
            <a:extLst>
              <a:ext uri="{FF2B5EF4-FFF2-40B4-BE49-F238E27FC236}">
                <a16:creationId xmlns:a16="http://schemas.microsoft.com/office/drawing/2014/main" id="{9067208B-45DF-6C19-F752-6CB587250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237" y="752397"/>
            <a:ext cx="3960000" cy="23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2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FBCAEC5-5594-6EF4-2131-CE03C81D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solidFill>
                  <a:srgbClr val="FFFFFF"/>
                </a:solidFill>
              </a:rPr>
              <a:t>情境一：</a:t>
            </a:r>
            <a:br>
              <a:rPr kumimoji="1" lang="en-US" altLang="zh-TW" dirty="0">
                <a:solidFill>
                  <a:srgbClr val="FFFFFF"/>
                </a:solidFill>
              </a:rPr>
            </a:br>
            <a:r>
              <a:rPr kumimoji="1" lang="zh-TW" altLang="en-US" dirty="0">
                <a:solidFill>
                  <a:srgbClr val="FFFFFF"/>
                </a:solidFill>
              </a:rPr>
              <a:t>健身新手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9D8548-2216-153F-0B86-E6D53B1B7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442" y="921497"/>
            <a:ext cx="6034827" cy="5221683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使用者特徵：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沒有運動習慣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容易三分鐘熱度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需求：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降低開始門檻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增加成就感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" altLang="zh-TW" dirty="0">
                <a:solidFill>
                  <a:srgbClr val="FF0000"/>
                </a:solidFill>
                <a:latin typeface="+mn-ea"/>
              </a:rPr>
              <a:t>App </a:t>
            </a: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幫助：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用每日任務引導開始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用徽章、升級增加動力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完成任務可獲得獎勵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分析：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對新手實用性高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可降低對運動的抗拒感</a:t>
            </a:r>
          </a:p>
        </p:txBody>
      </p:sp>
      <p:pic>
        <p:nvPicPr>
          <p:cNvPr id="5" name="圖片 4" descr="一張含有 動畫卡通, 人的臉孔, 美工圖案, 男孩 的圖片&#10;&#10;AI 產生的內容可能不正確。">
            <a:extLst>
              <a:ext uri="{FF2B5EF4-FFF2-40B4-BE49-F238E27FC236}">
                <a16:creationId xmlns:a16="http://schemas.microsoft.com/office/drawing/2014/main" id="{D1F6AA05-B303-F731-2AD1-CFA4B181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317" y="921497"/>
            <a:ext cx="3600000" cy="277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2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3D5F0E-8D21-AE51-2CDE-AEE6FBAD4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solidFill>
                  <a:srgbClr val="FFFFFF"/>
                </a:solidFill>
              </a:rPr>
              <a:t>情境二：</a:t>
            </a:r>
            <a:br>
              <a:rPr kumimoji="1" lang="en-US" altLang="zh-TW" dirty="0">
                <a:solidFill>
                  <a:srgbClr val="FFFFFF"/>
                </a:solidFill>
              </a:rPr>
            </a:br>
            <a:r>
              <a:rPr kumimoji="1" lang="zh-TW" altLang="en-US" dirty="0">
                <a:solidFill>
                  <a:srgbClr val="FFFFFF"/>
                </a:solidFill>
              </a:rPr>
              <a:t>忙碌的學生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760A4-9DEA-6613-28D2-F4D31AB66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94" y="1240077"/>
            <a:ext cx="6034827" cy="4916465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使用者特徵：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時間零碎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 • </a:t>
            </a:r>
            <a:r>
              <a:rPr kumimoji="1" lang="zh-TW" altLang="en-US" sz="1600" dirty="0">
                <a:latin typeface="+mn-ea"/>
              </a:rPr>
              <a:t>常因忙碌中斷運動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需求：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短時間完成任務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需要提醒與推動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" altLang="zh-TW" dirty="0">
                <a:solidFill>
                  <a:srgbClr val="FF0000"/>
                </a:solidFill>
                <a:latin typeface="+mn-ea"/>
              </a:rPr>
              <a:t>App </a:t>
            </a: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幫助：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1600" dirty="0">
                <a:latin typeface="+mn-ea"/>
              </a:rPr>
              <a:t> • </a:t>
            </a:r>
            <a:r>
              <a:rPr kumimoji="1" lang="zh-TW" altLang="en-US" sz="1600" dirty="0">
                <a:latin typeface="+mn-ea"/>
              </a:rPr>
              <a:t>提供短時挑戰任務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完成可獲得點數或獎勵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透過打卡培養習慣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分析：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• </a:t>
            </a:r>
            <a:r>
              <a:rPr kumimoji="1" lang="zh-TW" altLang="en-US" sz="1600" dirty="0">
                <a:latin typeface="+mn-ea"/>
              </a:rPr>
              <a:t>比單純紀錄型 </a:t>
            </a:r>
            <a:r>
              <a:rPr kumimoji="1" lang="en" altLang="zh-TW" sz="1600" dirty="0">
                <a:latin typeface="+mn-ea"/>
              </a:rPr>
              <a:t>App </a:t>
            </a:r>
            <a:r>
              <a:rPr kumimoji="1" lang="zh-TW" altLang="en-US" sz="1600" dirty="0">
                <a:latin typeface="+mn-ea"/>
              </a:rPr>
              <a:t>更能提高參與度</a:t>
            </a:r>
          </a:p>
        </p:txBody>
      </p:sp>
      <p:pic>
        <p:nvPicPr>
          <p:cNvPr id="5" name="圖片 4" descr="一張含有 動畫卡通, 動畫, 美工圖案, 卡通 的圖片&#10;&#10;AI 產生的內容可能不正確。">
            <a:extLst>
              <a:ext uri="{FF2B5EF4-FFF2-40B4-BE49-F238E27FC236}">
                <a16:creationId xmlns:a16="http://schemas.microsoft.com/office/drawing/2014/main" id="{A875CCEA-72A9-21C1-AFF5-891648B3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97" y="1240076"/>
            <a:ext cx="3600000" cy="325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3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734D93E-F922-7BE8-BD5E-F8901F93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19" y="1248762"/>
            <a:ext cx="3107955" cy="4584527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solidFill>
                  <a:srgbClr val="FFFFFF"/>
                </a:solidFill>
              </a:rPr>
              <a:t>情境三：</a:t>
            </a:r>
            <a:br>
              <a:rPr kumimoji="1" lang="en-US" altLang="zh-TW" dirty="0">
                <a:solidFill>
                  <a:srgbClr val="FFFFFF"/>
                </a:solidFill>
              </a:rPr>
            </a:br>
            <a:r>
              <a:rPr kumimoji="1" lang="zh-TW" altLang="en-US" dirty="0">
                <a:solidFill>
                  <a:srgbClr val="FFFFFF"/>
                </a:solidFill>
              </a:rPr>
              <a:t>已有運動習慣者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9CA78-6D2C-864E-4BFF-B47BDA9F2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714" y="917991"/>
            <a:ext cx="6034827" cy="5246067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使用者特徵：</a:t>
            </a:r>
          </a:p>
          <a:p>
            <a:pPr>
              <a:lnSpc>
                <a:spcPct val="110000"/>
              </a:lnSpc>
            </a:pP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已有固定訓練習慣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更重視效果與進步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需求：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更高挑戰性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更個人化設計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" altLang="zh-TW" dirty="0">
                <a:solidFill>
                  <a:srgbClr val="FF0000"/>
                </a:solidFill>
                <a:latin typeface="+mn-ea"/>
              </a:rPr>
              <a:t>App </a:t>
            </a: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幫助：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提供進階任務</a:t>
            </a:r>
          </a:p>
          <a:p>
            <a:pPr>
              <a:lnSpc>
                <a:spcPct val="110000"/>
              </a:lnSpc>
            </a:pP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結合等級與成就系統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增加訓練持續性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分析：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有幫助，但需搭配個人化課表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否則容易流於表面化</a:t>
            </a:r>
          </a:p>
        </p:txBody>
      </p:sp>
      <p:pic>
        <p:nvPicPr>
          <p:cNvPr id="5" name="圖片 4" descr="一張含有 體育, 體適能, 卡通, 運動裝備 的圖片&#10;&#10;AI 產生的內容可能不正確。">
            <a:extLst>
              <a:ext uri="{FF2B5EF4-FFF2-40B4-BE49-F238E27FC236}">
                <a16:creationId xmlns:a16="http://schemas.microsoft.com/office/drawing/2014/main" id="{B429CFE2-7E8E-B472-235F-AD1208D5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770" y="917991"/>
            <a:ext cx="3774811" cy="22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1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ADE4D9C-692C-8EB2-5F5F-640790C1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solidFill>
                  <a:srgbClr val="FFFFFF"/>
                </a:solidFill>
              </a:rPr>
              <a:t>情境四：</a:t>
            </a:r>
            <a:br>
              <a:rPr kumimoji="1" lang="en-US" altLang="zh-TW" dirty="0">
                <a:solidFill>
                  <a:srgbClr val="FFFFFF"/>
                </a:solidFill>
              </a:rPr>
            </a:br>
            <a:r>
              <a:rPr kumimoji="1" lang="zh-TW" altLang="en-US" dirty="0">
                <a:solidFill>
                  <a:srgbClr val="FFFFFF"/>
                </a:solidFill>
              </a:rPr>
              <a:t>好友互動環節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EA136D-238B-44FA-162D-E219E5293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876" y="762458"/>
            <a:ext cx="6034827" cy="5539762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使用者特徵：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喜歡和朋友一起挑戰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容易受到同儕影響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需求：</a:t>
            </a:r>
          </a:p>
          <a:p>
            <a:pPr>
              <a:lnSpc>
                <a:spcPct val="110000"/>
              </a:lnSpc>
            </a:pP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增加互動感與樂趣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提升持續參與意願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" altLang="zh-TW" dirty="0">
                <a:solidFill>
                  <a:srgbClr val="FF0000"/>
                </a:solidFill>
                <a:latin typeface="+mn-ea"/>
              </a:rPr>
              <a:t>App </a:t>
            </a: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幫助：</a:t>
            </a:r>
          </a:p>
          <a:p>
            <a:pPr>
              <a:lnSpc>
                <a:spcPct val="110000"/>
              </a:lnSpc>
            </a:pP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好友挑戰</a:t>
            </a:r>
          </a:p>
          <a:p>
            <a:pPr>
              <a:lnSpc>
                <a:spcPct val="110000"/>
              </a:lnSpc>
            </a:pP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排行榜競賽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組隊任務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分享成果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+mn-ea"/>
              </a:rPr>
              <a:t>分析：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社交互動可放大遊戲化效果</a:t>
            </a:r>
          </a:p>
          <a:p>
            <a:pPr>
              <a:lnSpc>
                <a:spcPct val="110000"/>
              </a:lnSpc>
            </a:pPr>
            <a:r>
              <a:rPr kumimoji="1" lang="zh-TW" altLang="en-US" sz="1600" dirty="0">
                <a:latin typeface="+mn-ea"/>
              </a:rPr>
              <a:t> </a:t>
            </a:r>
            <a:r>
              <a:rPr kumimoji="1" lang="en-US" altLang="zh-TW" sz="1600" dirty="0">
                <a:latin typeface="+mn-ea"/>
              </a:rPr>
              <a:t> </a:t>
            </a:r>
            <a:r>
              <a:rPr kumimoji="1" lang="zh-TW" altLang="en-US" sz="1600" dirty="0">
                <a:latin typeface="+mn-ea"/>
              </a:rPr>
              <a:t>對年輕族群特別有吸引力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7A752CF-BA3E-8963-6CD2-9672C7BA7739}"/>
              </a:ext>
            </a:extLst>
          </p:cNvPr>
          <p:cNvSpPr txBox="1"/>
          <p:nvPr/>
        </p:nvSpPr>
        <p:spPr>
          <a:xfrm>
            <a:off x="6510528" y="2426208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8" name="圖片 7" descr="一張含有 動畫卡通, 動畫, 美工圖案, 服裝 的圖片&#10;&#10;AI 產生的內容可能不正確。">
            <a:extLst>
              <a:ext uri="{FF2B5EF4-FFF2-40B4-BE49-F238E27FC236}">
                <a16:creationId xmlns:a16="http://schemas.microsoft.com/office/drawing/2014/main" id="{3EA19E5B-6C04-5BDF-452A-0FE31178A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815" y="728180"/>
            <a:ext cx="3596502" cy="280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2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CD14E-F17A-6519-3E60-25C84BBB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zh-TW" altLang="en-US" sz="3600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CE5015-F3E6-F5FD-C425-48BCF4893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 </a:t>
            </a:r>
            <a:r>
              <a:rPr kumimoji="1" lang="zh-TW" altLang="en-US" dirty="0"/>
              <a:t>遊戲化與獎勵機制可提升運動動機</a:t>
            </a:r>
          </a:p>
          <a:p>
            <a:r>
              <a:rPr kumimoji="1" lang="en-US" altLang="zh-TW" dirty="0"/>
              <a:t> </a:t>
            </a:r>
            <a:r>
              <a:rPr kumimoji="1" lang="zh-TW" altLang="en-US" dirty="0"/>
              <a:t>對新手與忙碌族群特別有效</a:t>
            </a:r>
          </a:p>
          <a:p>
            <a:r>
              <a:rPr kumimoji="1" lang="en-US" altLang="zh-TW" dirty="0"/>
              <a:t> </a:t>
            </a:r>
            <a:r>
              <a:rPr kumimoji="1" lang="zh-TW" altLang="en-US" dirty="0"/>
              <a:t>社交挑戰能增加參與感與黏著度</a:t>
            </a:r>
          </a:p>
          <a:p>
            <a:r>
              <a:rPr kumimoji="1" lang="zh-TW" altLang="en-US" dirty="0"/>
              <a:t> 但若缺乏個人化設計，效果仍有限</a:t>
            </a:r>
          </a:p>
          <a:p>
            <a:r>
              <a:rPr kumimoji="1" lang="zh-TW" altLang="en-US" dirty="0"/>
              <a:t> 核心價值在於：讓使用者願意持續運動</a:t>
            </a:r>
          </a:p>
        </p:txBody>
      </p:sp>
      <p:pic>
        <p:nvPicPr>
          <p:cNvPr id="5" name="圖片 4" descr="一張含有 行動電話 的圖片&#10;&#10;AI 產生的內容可能不正確。">
            <a:extLst>
              <a:ext uri="{FF2B5EF4-FFF2-40B4-BE49-F238E27FC236}">
                <a16:creationId xmlns:a16="http://schemas.microsoft.com/office/drawing/2014/main" id="{82D88188-6B09-76E1-2F8E-AA95D672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394" y="2015732"/>
            <a:ext cx="4432300" cy="214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68154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圖庫</Template>
  <TotalTime>559</TotalTime>
  <Words>455</Words>
  <Application>Microsoft Macintosh PowerPoint</Application>
  <PresentationFormat>寬螢幕</PresentationFormat>
  <Paragraphs>85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圖庫</vt:lpstr>
      <vt:lpstr>實用性情景分析</vt:lpstr>
      <vt:lpstr>研究背景</vt:lpstr>
      <vt:lpstr>研究動機</vt:lpstr>
      <vt:lpstr>APP核心概念</vt:lpstr>
      <vt:lpstr>情境一： 健身新手</vt:lpstr>
      <vt:lpstr>情境二： 忙碌的學生</vt:lpstr>
      <vt:lpstr>情境三： 已有運動習慣者</vt:lpstr>
      <vt:lpstr>情境四： 好友互動環節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11246025_劉凱閎</dc:creator>
  <cp:lastModifiedBy>11246025_劉凱閎</cp:lastModifiedBy>
  <cp:revision>1</cp:revision>
  <dcterms:created xsi:type="dcterms:W3CDTF">2026-04-09T06:02:54Z</dcterms:created>
  <dcterms:modified xsi:type="dcterms:W3CDTF">2026-04-09T15:22:15Z</dcterms:modified>
</cp:coreProperties>
</file>